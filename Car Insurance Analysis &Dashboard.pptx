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42AA-34F5-E2B2-D8C6-A1701BEB5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38AB8-5235-EE8B-2B07-AD249D375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A5105-3DB2-8390-69D2-598E86E4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20E4F-86D8-F335-0AE3-20C6623D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C5862-D645-D325-F333-8C8A2281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60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9C79-58F2-0BAD-D196-9608A997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DF333-C44E-9534-DDBF-12E262857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C4B4A-371B-3405-22B2-E6D9A03E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B7884-DAF8-7A9A-D865-33F37A7E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FFAB6-C9DD-B68B-D0EB-EA2A5205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45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1C62-6735-BEED-5403-CD011E421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679F9-0F95-42EA-64C1-E9A41612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24EA8-7A57-2E8E-09AA-C8284880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BDF7A-B649-10C7-0774-F34820BC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6FE4B-47E3-B891-214B-847A6862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4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5E3E-73C5-1FD4-C8E9-9ECF4AC7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6B0F4-481C-23F5-EDB5-AAF612FBB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425D7-DA16-2FDE-EA6A-7BB918165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06454-2637-30F8-2B4B-37D5FE0B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A6B2A-F92F-26F1-A1B8-6AB15669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2FD76-F776-25A5-0AFD-90474F99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65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2AFB-6182-3233-4BCD-F29F1993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AFD89-6A87-F3B6-AA94-025A69859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6D035-1DF9-ECD6-7557-917986AD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A5AFB-34FE-79CA-9BC4-15BBD135B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6A23E-ED54-895A-B364-AD4BF4434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AB4BF-1EF4-CB31-6A63-2272A28F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A6572-4E81-48CF-7988-9C077A59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68E75-8A09-7666-8A51-FE42AA40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3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021D-989D-6B89-DEAD-41484900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A34A2-47E8-A412-A09C-2A5EF4A9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885B0-B99B-3B4C-0DAC-AB34C662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E715E-688D-F942-A1F9-E5DA98F2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93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693B9C-A1F7-D2A8-9FFA-94EFD740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E2277-0438-1E82-3183-CCEB41D4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D4DA7-D2AB-13F2-47D7-2720D571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8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EABE-1762-9148-461C-1DE6DEC31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B17D9-D972-03C5-642C-E2F9EB28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A7494-42AA-C436-90F2-1385AEC6A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F6909-0300-FDA6-B685-6669B758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38914-72B1-A098-D7F3-CCBC5355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D8C8A-F8CA-060B-05F4-BB0ACF62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99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CA5F-A691-6D3E-0416-2F68DA6C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31B42-D0EE-F78F-CF8D-09FF63844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7130F-46A6-EF81-71F3-56887903B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6CC48-A8CF-28EA-DE5C-67DD8FE11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AF8DC-0396-4053-F670-FB6B2692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AF31A-819B-C53B-586B-F1E3FA89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1648-3415-5029-FDF6-3FE8AA31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2D488-2E87-364C-DD9E-9FBFFAB36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1E478-28A0-C3AC-898B-2BFEA10B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301C7-35D6-E41F-C611-1D39ED5EB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1E7C3-6CE7-28F9-5FC5-4FC61AF7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69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5254A0-1425-FEC2-47BA-78BE3E398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3BAFA-2120-87C6-FCE3-F59817B00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68E48-22F9-0FD5-631B-C3FA274F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02F20-1175-697B-B49E-AF22B41A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09614-E427-6539-81AA-354E3FCE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57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329CE-25A5-14F7-15C7-5070EC62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CB436-42C1-83E0-1164-9042A035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DB14C-2558-CFEB-939B-83A7469BE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2D91E-5E17-4C30-B81E-8D204A45FBC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B550D-7B32-1436-5286-0F1D2D65D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90BBB-F080-FD21-9352-8F3B35DF0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E3CDB-6C78-484C-9F6B-2C711C9C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34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uskanfzd18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3AAD-DB46-2A7D-E53A-2ABE8A292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7448"/>
            <a:ext cx="9144000" cy="75693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Insurance Analysis &amp;Dashboard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55223-4B2A-96F6-BB67-C5EADC5F3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206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this assignment, I first generated a synthetic dataset using Python based on the given business assumptions. The dataset was then imported into MySQL, where I performed data analysis and wrote SQL queries to extract key insights related to premiums, claims, and profitability. Finally, I connected the processed data to Power BI to build interactive dashboards and visualizations that highlight claim trends, loss ratios, and overall portfolio performance.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29804-6D86-26CE-C5C7-7C8FF9F11E2C}"/>
              </a:ext>
            </a:extLst>
          </p:cNvPr>
          <p:cNvSpPr txBox="1"/>
          <p:nvPr/>
        </p:nvSpPr>
        <p:spPr>
          <a:xfrm>
            <a:off x="8495071" y="6174658"/>
            <a:ext cx="2976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2"/>
              </a:rPr>
              <a:t>Presented By: Muskan Singh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1F9655-78FA-D67D-EF8B-F6C61289B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5" t="16021" r="22145" b="21511"/>
          <a:stretch>
            <a:fillRect/>
          </a:stretch>
        </p:blipFill>
        <p:spPr>
          <a:xfrm>
            <a:off x="5163659" y="306045"/>
            <a:ext cx="1864682" cy="139664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1036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9266-8D4E-1CAA-B04E-2A184B47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D1EA0-0B66-F2B6-6727-D30C75C6D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"/>
            <a:ext cx="12192000" cy="685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4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47114-253E-A0F5-3FC7-60627D032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106" y="2373009"/>
            <a:ext cx="2114845" cy="609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07B13D-4E29-0F18-98B5-C68EFA93AA77}"/>
              </a:ext>
            </a:extLst>
          </p:cNvPr>
          <p:cNvSpPr txBox="1"/>
          <p:nvPr/>
        </p:nvSpPr>
        <p:spPr>
          <a:xfrm>
            <a:off x="7734290" y="991665"/>
            <a:ext cx="3244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used the SUM aggregation function to calculate the total premium and filtered the records using the YEAR() function to include only policies sold in 2024.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3A997-8E79-F408-6473-178E5453FA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77" y="956279"/>
            <a:ext cx="5245062" cy="19057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C9E12A-260B-A8AC-1C36-FB6DBB8371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26" y="3429000"/>
            <a:ext cx="7716327" cy="3038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9ACED-E5AD-E3DC-CD60-EF32D8CB81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106" y="4815818"/>
            <a:ext cx="3010320" cy="12193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CC6FFA-85DD-9D19-587E-0C63E2081605}"/>
              </a:ext>
            </a:extLst>
          </p:cNvPr>
          <p:cNvSpPr txBox="1"/>
          <p:nvPr/>
        </p:nvSpPr>
        <p:spPr>
          <a:xfrm>
            <a:off x="7734290" y="3696448"/>
            <a:ext cx="44033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extracted the year and month from the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 date and grouped the data by these fields to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total claim cost for each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month in 2025 and 2026.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9F5BFD-BC6B-75F5-330C-098D9451DC49}"/>
              </a:ext>
            </a:extLst>
          </p:cNvPr>
          <p:cNvSpPr txBox="1"/>
          <p:nvPr/>
        </p:nvSpPr>
        <p:spPr>
          <a:xfrm>
            <a:off x="4810490" y="277055"/>
            <a:ext cx="2467897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Queries Analysis</a:t>
            </a:r>
          </a:p>
        </p:txBody>
      </p:sp>
    </p:spTree>
    <p:extLst>
      <p:ext uri="{BB962C8B-B14F-4D97-AF65-F5344CB8AC3E}">
        <p14:creationId xmlns:p14="http://schemas.microsoft.com/office/powerpoint/2010/main" val="306086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8ED3B-2CD9-73BA-0D1B-F19E725DA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4" y="4445787"/>
            <a:ext cx="4058216" cy="1171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7B3EC8-757D-06A0-BC6C-FDD2B4780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1" y="551911"/>
            <a:ext cx="7925906" cy="32961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C60B65-1922-CE2B-EC06-FB6AEFB96A14}"/>
              </a:ext>
            </a:extLst>
          </p:cNvPr>
          <p:cNvSpPr txBox="1"/>
          <p:nvPr/>
        </p:nvSpPr>
        <p:spPr>
          <a:xfrm>
            <a:off x="7275871" y="1897625"/>
            <a:ext cx="318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3-year policies might be most profitable because they generate higher premium while claims remain relatively low.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8A718-420E-1D74-2B03-DAC1892D2B72}"/>
              </a:ext>
            </a:extLst>
          </p:cNvPr>
          <p:cNvSpPr txBox="1"/>
          <p:nvPr/>
        </p:nvSpPr>
        <p:spPr>
          <a:xfrm>
            <a:off x="7275871" y="4320557"/>
            <a:ext cx="38444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ratio → more profitable policy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ratio → higher risk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49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E2E0-F30D-47C2-4F08-7297F288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2E7FE-0F16-B0A7-F26A-8C8B81C94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4498621"/>
            <a:ext cx="3915321" cy="1400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ABEE8B-CF1D-6098-E9B6-42F6F1C64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92" y="547786"/>
            <a:ext cx="9469171" cy="3810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9B6F6-5E38-4F55-CB5A-EA4FFB3C23D5}"/>
              </a:ext>
            </a:extLst>
          </p:cNvPr>
          <p:cNvSpPr txBox="1"/>
          <p:nvPr/>
        </p:nvSpPr>
        <p:spPr>
          <a:xfrm>
            <a:off x="6843251" y="1754168"/>
            <a:ext cx="46080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grouped policies by the month of purchase in 2024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calculated total premium and total claims for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month. Then I computed the claim-to-premium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ratio using total claims divided by total premium.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8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A6C2C-2E17-4CC0-CB06-7576B6977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DD3A84-089E-C841-2004-59C346BB9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83" y="291789"/>
            <a:ext cx="8135485" cy="4105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90BE23-D505-21C6-0622-0199EF8EA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106" y="1358768"/>
            <a:ext cx="1133633" cy="6096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B1DA90-02F3-CE4A-B378-E85BD4772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106" y="3429000"/>
            <a:ext cx="2734057" cy="685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4B0278-2645-4C5E-96A1-99F098525AFC}"/>
              </a:ext>
            </a:extLst>
          </p:cNvPr>
          <p:cNvSpPr txBox="1"/>
          <p:nvPr/>
        </p:nvSpPr>
        <p:spPr>
          <a:xfrm>
            <a:off x="464583" y="474444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identified vehicles without claims using a LEFT JOIN and NULL filtering, counted them, and multiplied by the claim amount of ₹10,000 to estimate the total potential claim liability.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946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EF5CB-D14A-50A6-859D-9C49E466A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01" y="286024"/>
            <a:ext cx="9974067" cy="838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6F381D-BEE5-E0C9-9083-A889724E5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6" y="1124341"/>
            <a:ext cx="7354326" cy="4039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A9562F-4163-0C14-0C62-3762E74F3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687" y="4255173"/>
            <a:ext cx="2486372" cy="628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8B1496-2718-59AA-F535-35A94914FC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687" y="2057921"/>
            <a:ext cx="2772162" cy="724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94AF0F-EB8F-42D1-E7B6-E04BF0E5E0C2}"/>
              </a:ext>
            </a:extLst>
          </p:cNvPr>
          <p:cNvSpPr txBox="1"/>
          <p:nvPr/>
        </p:nvSpPr>
        <p:spPr>
          <a:xfrm>
            <a:off x="678426" y="5402425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calculated daily premium by dividing total premium by policy tenure days. Then I multiplied it by the number of earned days up to February 28, 2026 to estimate earned premium. Finally, I subtracted earned premium from total premium and divided the remaining amount by 46 months to estimate future monthly premium.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3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13334-AAF8-D571-26A9-DA55B9DA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5934A-E85A-9835-00BD-19414AE3C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33" y="4546865"/>
            <a:ext cx="5115639" cy="1343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D628EB-D490-CE3B-741D-D76914100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70" y="866439"/>
            <a:ext cx="6630325" cy="3439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1CDAC8-EB5C-38C2-0E6A-75001E1C05BC}"/>
              </a:ext>
            </a:extLst>
          </p:cNvPr>
          <p:cNvSpPr txBox="1"/>
          <p:nvPr/>
        </p:nvSpPr>
        <p:spPr>
          <a:xfrm>
            <a:off x="4847302" y="310784"/>
            <a:ext cx="1975541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Bonus Questions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C7B3D-8948-82A9-5A72-2AC4FA78712A}"/>
              </a:ext>
            </a:extLst>
          </p:cNvPr>
          <p:cNvSpPr txBox="1"/>
          <p:nvPr/>
        </p:nvSpPr>
        <p:spPr>
          <a:xfrm>
            <a:off x="7659329" y="1257284"/>
            <a:ext cx="34019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Based on the analysis, the 3-year policy tenure appears to be the most profitable. It generates the highest premium while maintaining a relatively lower claim-to-premium ratio compared to other tenures. This leads to higher overall profit and better risk-adjusted returns for the insurer.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3803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9B7AE8-EB5A-094B-0926-5785C7716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57" y="2856239"/>
            <a:ext cx="3315163" cy="457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F792B1-338F-7C47-11EF-DB0714F93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70" y="453875"/>
            <a:ext cx="6201640" cy="2238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C35107-4BE3-CD6D-F9BF-BBBFA2522CC2}"/>
              </a:ext>
            </a:extLst>
          </p:cNvPr>
          <p:cNvSpPr txBox="1"/>
          <p:nvPr/>
        </p:nvSpPr>
        <p:spPr>
          <a:xfrm>
            <a:off x="7148052" y="709514"/>
            <a:ext cx="37559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calculated the loss ratio by dividing total claim cost by total premium collected across all policies. This metric helps evaluate the overall profitability and risk exposure of the insurance portfolio.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F5BCF7-9D6A-E0AD-96EC-A641017D8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70" y="3584331"/>
            <a:ext cx="8211696" cy="2819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88DAE-29D9-4835-A878-96EEC0D70A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113" y="5281207"/>
            <a:ext cx="1857634" cy="685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B21C72-4C80-89E2-D331-54CC550112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052" y="4244026"/>
            <a:ext cx="4439270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0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387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Car Insurance Analysis &amp;Dashboard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Muskan sisodiya</dc:creator>
  <cp:lastModifiedBy>Muskan sisodiya</cp:lastModifiedBy>
  <cp:revision>1</cp:revision>
  <dcterms:created xsi:type="dcterms:W3CDTF">2026-03-10T09:26:17Z</dcterms:created>
  <dcterms:modified xsi:type="dcterms:W3CDTF">2026-03-10T10:08:59Z</dcterms:modified>
</cp:coreProperties>
</file>